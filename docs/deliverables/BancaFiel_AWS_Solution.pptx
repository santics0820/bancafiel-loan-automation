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042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1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BancaFiel Digital Transformation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AWS-Powered Loan &amp; Credit Card Processing Solution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200400"/>
            <a:ext cx="548640" cy="54864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200400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ITESM Consulting Team | KPMG Digital Lighthouse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Agenda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188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Current Challenges &amp; Pain Points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2880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80160" y="1828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Solution Approach: Human + AI</a:t>
            </a:r>
            <a:endParaRPr lang="en-US" sz="1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46888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80160" y="2468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AWS Architecture &amp; Services</a:t>
            </a:r>
            <a:endParaRPr lang="en-US" sz="18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108960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80160" y="3108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Cost Analysis &amp; ROI</a:t>
            </a:r>
            <a:endParaRPr lang="en-US" sz="18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749040"/>
            <a:ext cx="365760" cy="3657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80160" y="3749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Implementation &amp; Next Steps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Manual Processing Bottleneck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manual steps from email to ERP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week processing time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applications/day volume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application loss rate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 entry in Excel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fraud from human errors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Unhappy customers switching banks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competitive advantage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$1-2M monthly losses from fraud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burnout from manual work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approve in hours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Solution: Human Approval Required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90% of work, humans make final decisions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20040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54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25603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extraction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routing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notifications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371600"/>
            <a:ext cx="2651760" cy="320040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5544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474720" y="25603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approval/reject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 recommendations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edge cases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26480" y="1371600"/>
            <a:ext cx="2651760" cy="320040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5544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309360" y="25603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time reduction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 → 2 hours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fraud reduction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$300/mo operating cost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$1.5M+ monthly savings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Services: Building Blocks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09728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Textract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80160" y="1691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extraction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46320" y="1188720"/>
            <a:ext cx="4114800" cy="109728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4630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669280" y="1691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processing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468880"/>
            <a:ext cx="4114800" cy="109728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74320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280160" y="2971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database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846320" y="2468880"/>
            <a:ext cx="4114800" cy="109728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74320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6928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5669280" y="2971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orchestration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57200" y="3749040"/>
            <a:ext cx="4114800" cy="109728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02336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80160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Detector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280160" y="4251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fraud prevention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846320" y="3749040"/>
            <a:ext cx="4114800" cy="109728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4023360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669280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+ SES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5669280" y="4251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&amp; notifications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Flow: Document Processing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109728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5087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11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Upload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2402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/ Email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377440" y="1783080"/>
            <a:ext cx="548640" cy="274320"/>
          </a:xfrm>
          <a:prstGeom prst="rightArrow">
            <a:avLst/>
          </a:prstGeom>
          <a:solidFill>
            <a:srgbClr val="8892A0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8" name="Shape 5"/>
          <p:cNvSpPr/>
          <p:nvPr/>
        </p:nvSpPr>
        <p:spPr>
          <a:xfrm>
            <a:off x="2560320" y="1371600"/>
            <a:ext cx="1828800" cy="109728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5087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60320" y="2011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Storage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560320" y="22402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Store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480560" y="1783080"/>
            <a:ext cx="548640" cy="274320"/>
          </a:xfrm>
          <a:prstGeom prst="rightArrow">
            <a:avLst/>
          </a:prstGeom>
          <a:solidFill>
            <a:srgbClr val="8892A0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3" name="Shape 9"/>
          <p:cNvSpPr/>
          <p:nvPr/>
        </p:nvSpPr>
        <p:spPr>
          <a:xfrm>
            <a:off x="4663440" y="1371600"/>
            <a:ext cx="1828800" cy="109728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5087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63440" y="2011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Textract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663440" y="22402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583680" y="1783080"/>
            <a:ext cx="548640" cy="274320"/>
          </a:xfrm>
          <a:prstGeom prst="rightArrow">
            <a:avLst/>
          </a:prstGeom>
          <a:solidFill>
            <a:srgbClr val="8892A0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8" name="Shape 13"/>
          <p:cNvSpPr/>
          <p:nvPr/>
        </p:nvSpPr>
        <p:spPr>
          <a:xfrm>
            <a:off x="6766560" y="1371600"/>
            <a:ext cx="1828800" cy="109728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150876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66560" y="2011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766560" y="22402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3017520"/>
            <a:ext cx="1828800" cy="10972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315468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57200" y="3657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Detector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457200" y="3886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Scoring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2377440" y="3429000"/>
            <a:ext cx="548640" cy="274320"/>
          </a:xfrm>
          <a:prstGeom prst="rightArrow">
            <a:avLst/>
          </a:prstGeom>
          <a:solidFill>
            <a:srgbClr val="8892A0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7" name="Shape 20"/>
          <p:cNvSpPr/>
          <p:nvPr/>
        </p:nvSpPr>
        <p:spPr>
          <a:xfrm>
            <a:off x="2560320" y="3017520"/>
            <a:ext cx="1828800" cy="10972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6120" y="3154680"/>
            <a:ext cx="457200" cy="4572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560320" y="3657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2560320" y="3886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4480560" y="3429000"/>
            <a:ext cx="548640" cy="274320"/>
          </a:xfrm>
          <a:prstGeom prst="rightArrow">
            <a:avLst/>
          </a:prstGeom>
          <a:solidFill>
            <a:srgbClr val="8892A0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32" name="Shape 24"/>
          <p:cNvSpPr/>
          <p:nvPr/>
        </p:nvSpPr>
        <p:spPr>
          <a:xfrm>
            <a:off x="4663440" y="3017520"/>
            <a:ext cx="1828800" cy="109728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154680"/>
            <a:ext cx="457200" cy="45720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663440" y="3657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4663440" y="3886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6583680" y="3429000"/>
            <a:ext cx="548640" cy="274320"/>
          </a:xfrm>
          <a:prstGeom prst="rightArrow">
            <a:avLst/>
          </a:prstGeom>
          <a:solidFill>
            <a:srgbClr val="8892A0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37" name="Shape 28"/>
          <p:cNvSpPr/>
          <p:nvPr/>
        </p:nvSpPr>
        <p:spPr>
          <a:xfrm>
            <a:off x="6766560" y="3017520"/>
            <a:ext cx="1828800" cy="10972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0" y="3154680"/>
            <a:ext cx="457200" cy="45720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766560" y="3657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Update</a:t>
            </a:r>
            <a:endParaRPr lang="en-US" sz="1400" dirty="0"/>
          </a:p>
        </p:txBody>
      </p:sp>
      <p:sp>
        <p:nvSpPr>
          <p:cNvPr id="40" name="Text 30"/>
          <p:cNvSpPr/>
          <p:nvPr/>
        </p:nvSpPr>
        <p:spPr>
          <a:xfrm>
            <a:off x="6766560" y="3886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Record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7680960" y="2468880"/>
            <a:ext cx="0" cy="548640"/>
          </a:xfrm>
          <a:prstGeom prst="line">
            <a:avLst/>
          </a:prstGeom>
          <a:noFill/>
          <a:ln w="38100">
            <a:solidFill>
              <a:srgbClr val="8892A0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Approver Experience Transformation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Before (Manual)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5 PDF attachments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document manually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data by hand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into Excel spreadsheet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bank database manually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data across docs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decision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email manually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30-60 min per application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After (AWS)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 dashboard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pre-extracted ✅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documents validated ✅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score: Low Risk 🟢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verified ✅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shown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summary (30 sec)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Approve/Reject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30 sec - 5 min per application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Analysis: AWS vs. Current Losses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38328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Production Cost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$250-350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Lambda: $50-100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Textract: $75-120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RDS: $50-70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services: $75-60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114800" cy="338328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Monthly Losses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54880" y="18288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$1-2M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754880" y="2468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30175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losses: $1M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applications: $500K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attrition: $300K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inefficiency: $200K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 &amp; Business Benefits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011680" cy="137160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Reduction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 → 2 hours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2011680" cy="137160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8" name="Text 6"/>
          <p:cNvSpPr/>
          <p:nvPr/>
        </p:nvSpPr>
        <p:spPr>
          <a:xfrm>
            <a:off x="265176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$1.5M+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651760" y="19659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Savings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2240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$300 AWS cost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2011680" cy="137160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846320" y="19659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Reduction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240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0" y="1188720"/>
            <a:ext cx="2011680" cy="137160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16" name="Text 14"/>
          <p:cNvSpPr/>
          <p:nvPr/>
        </p:nvSpPr>
        <p:spPr>
          <a:xfrm>
            <a:off x="704088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17,800%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040880" y="19659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ROI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0" y="2240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for itself in 1 week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Strategic Benefits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338328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satisfaction: Faster approvals build trust and retention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advantage: Match industry standards (hours vs. days)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 Handle 5,000+ applications/day without adding staff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Audit trail and regulatory reporting built-in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morale: Eliminate tedious data entry, focus on decision-making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Timeline: 4-Week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097280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45920" y="1188720"/>
            <a:ext cx="73152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6" name="Text 4"/>
          <p:cNvSpPr/>
          <p:nvPr/>
        </p:nvSpPr>
        <p:spPr>
          <a:xfrm>
            <a:off x="1828800" y="1188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MVP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1887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document storage • Lambda processing • Textract extraction • RDS database • Basic web app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097280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45920" y="2103120"/>
            <a:ext cx="73152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1" name="Text 9"/>
          <p:cNvSpPr/>
          <p:nvPr/>
        </p:nvSpPr>
        <p:spPr>
          <a:xfrm>
            <a:off x="1828800" y="2103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Intelligence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21031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workflow • Fraud Detector • Email notifications • Approval dashboard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1097280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645920" y="3017520"/>
            <a:ext cx="73152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6" name="Text 14"/>
          <p:cNvSpPr/>
          <p:nvPr/>
        </p:nvSpPr>
        <p:spPr>
          <a:xfrm>
            <a:off x="1828800" y="3017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30175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integration • End-to-end testing • Security audit • Performance tuning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1097280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645920" y="3931920"/>
            <a:ext cx="73152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1" name="Text 19"/>
          <p:cNvSpPr/>
          <p:nvPr/>
        </p:nvSpPr>
        <p:spPr>
          <a:xfrm>
            <a:off x="1828800" y="3931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Training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0" y="39319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• Staff training • Documentation • Go-live support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We'll Win: Key Differentiators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206240" cy="105156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630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25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Textract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88720" y="1645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AI/ML document extraction competitors won't have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937760" y="1188720"/>
            <a:ext cx="4206240" cy="105156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4630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0" y="1325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Detector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669280" y="1645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specific pain point with quantified savings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423160"/>
            <a:ext cx="4206240" cy="105156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6974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560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188720" y="2880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approach banking executives appreciate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937760" y="2423160"/>
            <a:ext cx="4206240" cy="105156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6974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69280" y="2560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669280" y="2880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workflow easy to explain to non-technical stakeholders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57200" y="3657600"/>
            <a:ext cx="4206240" cy="105156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93192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8720" y="3794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ROI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118872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17,800% annual ROI with detailed cost analysis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937760" y="3657600"/>
            <a:ext cx="4206240" cy="105156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3931920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669280" y="3794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566928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that scales from 500 to 5,000/day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 vs. Other Teams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20624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Our Approach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4206240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Typical Competitors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420624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problem understanding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4206240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automation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420624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2" name="Text 10"/>
          <p:cNvSpPr/>
          <p:nvPr/>
        </p:nvSpPr>
        <p:spPr>
          <a:xfrm>
            <a:off x="640080" y="22128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required (realistic)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212848"/>
            <a:ext cx="4206240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4" name="Text 12"/>
          <p:cNvSpPr/>
          <p:nvPr/>
        </p:nvSpPr>
        <p:spPr>
          <a:xfrm>
            <a:off x="4937760" y="22128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Over-promise full automation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79776"/>
            <a:ext cx="420624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6" name="Text 14"/>
          <p:cNvSpPr/>
          <p:nvPr/>
        </p:nvSpPr>
        <p:spPr>
          <a:xfrm>
            <a:off x="640080" y="27797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AWS architecture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779776"/>
            <a:ext cx="4206240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8" name="Text 16"/>
          <p:cNvSpPr/>
          <p:nvPr/>
        </p:nvSpPr>
        <p:spPr>
          <a:xfrm>
            <a:off x="4937760" y="27797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tools (N8N, Zapier)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46704"/>
            <a:ext cx="420624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0" name="Text 18"/>
          <p:cNvSpPr/>
          <p:nvPr/>
        </p:nvSpPr>
        <p:spPr>
          <a:xfrm>
            <a:off x="640080" y="334670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ROI ($1M+ savings)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346704"/>
            <a:ext cx="4206240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2" name="Text 20"/>
          <p:cNvSpPr/>
          <p:nvPr/>
        </p:nvSpPr>
        <p:spPr>
          <a:xfrm>
            <a:off x="4937760" y="334670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'it will be faster' claims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913632"/>
            <a:ext cx="420624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4" name="Text 22"/>
          <p:cNvSpPr/>
          <p:nvPr/>
        </p:nvSpPr>
        <p:spPr>
          <a:xfrm>
            <a:off x="640080" y="39136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+ security focus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913632"/>
            <a:ext cx="4206240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6" name="Text 24"/>
          <p:cNvSpPr/>
          <p:nvPr/>
        </p:nvSpPr>
        <p:spPr>
          <a:xfrm>
            <a:off x="4937760" y="39136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focus on speed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420624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8" name="Text 26"/>
          <p:cNvSpPr/>
          <p:nvPr/>
        </p:nvSpPr>
        <p:spPr>
          <a:xfrm>
            <a:off x="640080" y="4480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consulting package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4480560"/>
            <a:ext cx="4206240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30" name="Text 28"/>
          <p:cNvSpPr/>
          <p:nvPr/>
        </p:nvSpPr>
        <p:spPr>
          <a:xfrm>
            <a:off x="4937760" y="4480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technical solution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Winning Narrative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3017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4" name="Text 2"/>
          <p:cNvSpPr/>
          <p:nvPr/>
        </p:nvSpPr>
        <p:spPr>
          <a:xfrm>
            <a:off x="1188720" y="1645920"/>
            <a:ext cx="6766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BancaFiel is losing $1-2M per month due to slow processing, lost applications, and fraud. </a:t>
            </a:r>
            <a:endParaRPr lang="en-US" sz="1500" dirty="0"/>
          </a:p>
          <a:p>
            <a:pPr marL="0" indent="0">
              <a:lnSpc>
                <a:spcPts val="1800"/>
              </a:lnSpc>
              <a:buNone/>
            </a:pPr>
            <a:endParaRPr lang="en-US" sz="15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automates 90% of the work while maintaining human oversight on all credit decisions. This reduces processing time from 1 week to under 2 hours, cuts fraud by 70%, and costs only $300/month to operate.</a:t>
            </a:r>
            <a:endParaRPr lang="en-US" sz="1500" dirty="0"/>
          </a:p>
          <a:p>
            <a:pPr marL="0" indent="0">
              <a:lnSpc>
                <a:spcPts val="1800"/>
              </a:lnSpc>
              <a:buNone/>
            </a:pPr>
            <a:endParaRPr lang="en-US" sz="15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$1.5M+ in monthly savings, faster customer approvals, reduced fraud, and competitive advantage.</a:t>
            </a:r>
            <a:endParaRPr lang="en-US" sz="1500" dirty="0"/>
          </a:p>
          <a:p>
            <a:pPr marL="0" indent="0">
              <a:lnSpc>
                <a:spcPts val="1800"/>
              </a:lnSpc>
              <a:buNone/>
            </a:pPr>
            <a:endParaRPr lang="en-US" sz="15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ROI of 17,800% annually, this system pays for itself in less than a week. This isn't just faster processing—it's complete digital transformation.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Mitigation Strategy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206240" cy="105156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630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325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Resistance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training, show time savings, involve approvers early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37760" y="1188720"/>
            <a:ext cx="4206240" cy="105156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4630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77840" y="1325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Challenges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57784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rollout, ERP API testing, fallback to manual if needed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423160"/>
            <a:ext cx="4206240" cy="105156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6974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560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097280" y="2880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required, full audit trail, legal review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937760" y="2423160"/>
            <a:ext cx="4206240" cy="105156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69748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77840" y="2560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Downtime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577840" y="2880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99.9% uptime SLA, multi-AZ deployment, monitoring alerts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57200" y="3657600"/>
            <a:ext cx="4206240" cy="105156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93192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97280" y="3794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09728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rest/transit, IAM roles, GDPR compliance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937760" y="3657600"/>
            <a:ext cx="4206240" cy="105156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931920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577840" y="3794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Overruns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557784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cost alerts, budget limits, monthly reviews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Resources &amp; Implementation Guides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Official Documentation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1463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docs.aws.amazon.com/textract - Amazon Textract guide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docs.aws.amazon.com/lambda - AWS Lambda docs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docs.aws.amazon.com/step-functions - Workflow orchestration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aws.amazon.com/fraud-detector - Fraud detection setup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5488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Tutorials &amp; Courses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937760" y="1463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AWS Online Tech Talks (official channel)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freeCodeCamp AWS Full Course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Coursera: AWS Fundamentals Specialization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Serverless Land (AWS patterns)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Programs &amp; Credits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Educate - $100/year student credits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- Free cloud computing courses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Free Tier - 12 months free services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Student Pack - Additional AWS credits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2560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Examples &amp; Best Practices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9377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aws.amazon.com/architecture - Reference architectures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aws-samples - Code examples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Well-Architected Framework - Best practices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serverlessland.com - Patterns &amp; templates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Support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43891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Reddit: r/aws - Community discussions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Overflow: [amazon-web-services] tag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re:Post - Official Q&amp;A forum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Discord: AWS Community Builders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Management Strategy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146304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processing time 95%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 data entry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fraud losses 70%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99.9% uptime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743200" cy="146304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7" name="Text 5"/>
          <p:cNvSpPr/>
          <p:nvPr/>
        </p:nvSpPr>
        <p:spPr>
          <a:xfrm>
            <a:off x="338328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66160" y="16916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apps/day capacity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core AWS services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approval dashboard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2743200" cy="146304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10" name="Text 8"/>
          <p:cNvSpPr/>
          <p:nvPr/>
        </p:nvSpPr>
        <p:spPr>
          <a:xfrm>
            <a:off x="630936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6916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timeline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milestones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sprints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2743200" cy="146304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337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procedures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2834640"/>
            <a:ext cx="2743200" cy="146304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16" name="Text 14"/>
          <p:cNvSpPr/>
          <p:nvPr/>
        </p:nvSpPr>
        <p:spPr>
          <a:xfrm>
            <a:off x="338328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66160" y="3337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dashboards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status reports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tracking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updates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2834640"/>
            <a:ext cx="2743200" cy="146304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19" name="Text 17"/>
          <p:cNvSpPr/>
          <p:nvPr/>
        </p:nvSpPr>
        <p:spPr>
          <a:xfrm>
            <a:off x="630936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3337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sign-off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handoff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support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Management Strategy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206240" cy="16459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Objectives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from data entry to decision-making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staff with AI-powered tools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competitive advantage in market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4206240" cy="16459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Analysis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Approvers: Daily users, need training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IT: Integration owners, early involvement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Executives: ROI focus, weekly updates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206240" cy="16459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Strategy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meeting: Vision &amp; timeline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demos: Show progress &amp; value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loops: Address concerns early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4206240" cy="16459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X"/>
          </a:p>
        </p:txBody>
      </p:sp>
      <p:sp>
        <p:nvSpPr>
          <p:cNvPr id="13" name="Text 11"/>
          <p:cNvSpPr/>
          <p:nvPr/>
        </p:nvSpPr>
        <p:spPr>
          <a:xfrm>
            <a:off x="4754880" y="30175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3474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training: Approvers vs. admins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workshops: Practice scenarios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Video guides &amp; FAQs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473" y="694944"/>
            <a:ext cx="54864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0" y="16002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5" name="Text 2"/>
          <p:cNvSpPr/>
          <p:nvPr/>
        </p:nvSpPr>
        <p:spPr>
          <a:xfrm>
            <a:off x="13716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011680" y="1600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011680" y="1847088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approval criteria &amp; ERP details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371600" y="22402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9" name="Text 6"/>
          <p:cNvSpPr/>
          <p:nvPr/>
        </p:nvSpPr>
        <p:spPr>
          <a:xfrm>
            <a:off x="13716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011680" y="2240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Demo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011680" y="2487168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Textract + Lambda extraction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371600" y="28803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3" name="Text 10"/>
          <p:cNvSpPr/>
          <p:nvPr/>
        </p:nvSpPr>
        <p:spPr>
          <a:xfrm>
            <a:off x="137160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011680" y="2880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Approval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011680" y="3127248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AWS services &amp; costs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371600" y="3520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7" name="Text 14"/>
          <p:cNvSpPr/>
          <p:nvPr/>
        </p:nvSpPr>
        <p:spPr>
          <a:xfrm>
            <a:off x="13716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011680" y="3520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Implementation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011680" y="3767328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test, train, deploy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1308</Words>
  <Application>Microsoft Macintosh PowerPoint</Application>
  <PresentationFormat>On-screen Show (16:9)</PresentationFormat>
  <Paragraphs>299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BancaFiel Digital Transformation - AWS Solution</dc:title>
  <dc:subject>PptxGenJS Presentation</dc:subject>
  <dc:creator>ITESM Consulting Team</dc:creator>
  <cp:lastModifiedBy>Santiago Caire Sánchez</cp:lastModifiedBy>
  <cp:revision>2</cp:revision>
  <dcterms:created xsi:type="dcterms:W3CDTF">2026-02-15T20:29:52Z</dcterms:created>
  <dcterms:modified xsi:type="dcterms:W3CDTF">2026-02-15T20:59:00Z</dcterms:modified>
</cp:coreProperties>
</file>